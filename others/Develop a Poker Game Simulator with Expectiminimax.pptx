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315" r:id="rId6"/>
    <p:sldId id="327" r:id="rId7"/>
    <p:sldId id="320" r:id="rId8"/>
    <p:sldId id="321" r:id="rId9"/>
    <p:sldId id="326" r:id="rId10"/>
    <p:sldId id="322" r:id="rId11"/>
    <p:sldId id="323" r:id="rId12"/>
    <p:sldId id="324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86A17-79B5-E7E5-386D-6B572D24D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6419C-7BF5-78D8-567B-8BD6AC1CA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02443-7303-8B30-A0D0-59C1C4267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7563A-BBE4-2EAC-F69F-8239F47F2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71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06F5-64BD-45DB-F93A-4B9636B2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278D5-FDB7-F269-FC7C-F8BECE421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150-2287-C8B4-64E7-5ED37561F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F98C5-34D0-6EBF-A073-3B5B7642E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9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0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  <p:sldLayoutId id="214748371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448" y="4842256"/>
            <a:ext cx="4620584" cy="1580316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90000"/>
              </a:lnSpc>
            </a:pPr>
            <a:r>
              <a:rPr lang="en-GB" sz="1500" b="1" dirty="0">
                <a:solidFill>
                  <a:schemeClr val="tx1"/>
                </a:solidFill>
                <a:cs typeface="Times New Roman" panose="02020603050405020304" pitchFamily="18" charset="0"/>
              </a:rPr>
              <a:t>Group – 7</a:t>
            </a:r>
          </a:p>
          <a:p>
            <a:pPr algn="l">
              <a:lnSpc>
                <a:spcPct val="90000"/>
              </a:lnSpc>
            </a:pPr>
            <a:r>
              <a:rPr lang="en-GB" sz="1500" b="1" dirty="0">
                <a:solidFill>
                  <a:schemeClr val="tx1"/>
                </a:solidFill>
                <a:cs typeface="Times New Roman" panose="02020603050405020304" pitchFamily="18" charset="0"/>
              </a:rPr>
              <a:t>Group Members:</a:t>
            </a:r>
          </a:p>
          <a:p>
            <a:pPr algn="l">
              <a:lnSpc>
                <a:spcPct val="90000"/>
              </a:lnSpc>
            </a:pP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Md Simanto Haider 2021211042</a:t>
            </a:r>
          </a:p>
          <a:p>
            <a:pPr algn="l">
              <a:lnSpc>
                <a:spcPct val="90000"/>
              </a:lnSpc>
            </a:pP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Md Tajul Islam 2031210642</a:t>
            </a:r>
          </a:p>
          <a:p>
            <a:pPr algn="l">
              <a:lnSpc>
                <a:spcPct val="90000"/>
              </a:lnSpc>
            </a:pP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solidFill>
                  <a:schemeClr val="tx1"/>
                </a:solidFill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solidFill>
                  <a:schemeClr val="tx1"/>
                </a:solidFill>
                <a:cs typeface="Times New Roman" panose="02020603050405020304" pitchFamily="18" charset="0"/>
              </a:rPr>
              <a:t>Zucky</a:t>
            </a: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 1821178642</a:t>
            </a:r>
          </a:p>
          <a:p>
            <a:pPr algn="l">
              <a:lnSpc>
                <a:spcPct val="90000"/>
              </a:lnSpc>
            </a:pP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solidFill>
                  <a:schemeClr val="tx1"/>
                </a:solidFill>
                <a:cs typeface="Times New Roman" panose="02020603050405020304" pitchFamily="18" charset="0"/>
              </a:rPr>
              <a:t>Taibur</a:t>
            </a:r>
            <a:r>
              <a:rPr lang="en-GB" sz="1500" dirty="0">
                <a:solidFill>
                  <a:schemeClr val="tx1"/>
                </a:solidFill>
                <a:cs typeface="Times New Roman" panose="02020603050405020304" pitchFamily="18" charset="0"/>
              </a:rPr>
              <a:t> Rahaman 1931424642</a:t>
            </a:r>
          </a:p>
          <a:p>
            <a:pPr algn="l">
              <a:lnSpc>
                <a:spcPct val="90000"/>
              </a:lnSpc>
            </a:pPr>
            <a:endParaRPr lang="en-GB" sz="800" dirty="0"/>
          </a:p>
        </p:txBody>
      </p:sp>
      <p:pic>
        <p:nvPicPr>
          <p:cNvPr id="4" name="Google Shape;408;p35" descr="A poker chips and cards on a green table&#10;&#10;AI-generated content may be incorrect.">
            <a:extLst>
              <a:ext uri="{FF2B5EF4-FFF2-40B4-BE49-F238E27FC236}">
                <a16:creationId xmlns:a16="http://schemas.microsoft.com/office/drawing/2014/main" id="{64A9448B-F482-6A2C-F3EF-4D0ACACF339B}"/>
              </a:ext>
            </a:extLst>
          </p:cNvPr>
          <p:cNvPicPr preferRelativeResize="0"/>
          <p:nvPr/>
        </p:nvPicPr>
        <p:blipFill rotWithShape="1">
          <a:blip r:embed="rId2"/>
          <a:srcRect l="39319" r="2643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87D3F37-90F4-2E98-CD5D-BBD80BB83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0"/>
            <a:ext cx="5585747" cy="4567137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cs typeface="Times New Roman" panose="02020603050405020304" pitchFamily="18" charset="0"/>
              </a:rPr>
              <a:t>Develop a Poker Game Simulator with Expectiminimax</a:t>
            </a: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5" y="1560946"/>
            <a:ext cx="5181600" cy="789710"/>
          </a:xfrm>
        </p:spPr>
        <p:txBody>
          <a:bodyPr/>
          <a:lstStyle/>
          <a:p>
            <a:r>
              <a:rPr lang="en-GB" b="1" dirty="0"/>
              <a:t>Introduction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52945" y="2761673"/>
            <a:ext cx="5181600" cy="2895601"/>
          </a:xfrm>
        </p:spPr>
        <p:txBody>
          <a:bodyPr>
            <a:normAutofit fontScale="77500" lnSpcReduction="20000"/>
          </a:bodyPr>
          <a:lstStyle/>
          <a:p>
            <a:pPr marL="342900" indent="-342900" fontAlgn="base">
              <a:buFont typeface="Wingdings" panose="05000000000000000000" pitchFamily="2" charset="2"/>
              <a:buChar char="ü"/>
            </a:pPr>
            <a:r>
              <a:rPr lang="en-GB" dirty="0"/>
              <a:t>Our project focuses on using artificial intelligence to solve one of the most complex problems in game theory: poker.</a:t>
            </a:r>
          </a:p>
          <a:p>
            <a:pPr marL="342900" indent="-342900" fontAlgn="base">
              <a:buFont typeface="Wingdings" panose="05000000000000000000" pitchFamily="2" charset="2"/>
              <a:buChar char="ü"/>
            </a:pPr>
            <a:r>
              <a:rPr lang="en-GB" dirty="0"/>
              <a:t>We've developed a Texas Hold'em simulator where an AI agent makes strategic decisions.</a:t>
            </a:r>
          </a:p>
          <a:p>
            <a:pPr marL="342900" indent="-342900" fontAlgn="base">
              <a:buFont typeface="Wingdings" panose="05000000000000000000" pitchFamily="2" charset="2"/>
              <a:buChar char="ü"/>
            </a:pPr>
            <a:r>
              <a:rPr lang="en-GB" dirty="0"/>
              <a:t>The AI uses a powerful algorithm called </a:t>
            </a:r>
            <a:r>
              <a:rPr lang="en-GB" b="1" dirty="0"/>
              <a:t>Expectiminimax</a:t>
            </a:r>
            <a:r>
              <a:rPr lang="en-GB" dirty="0"/>
              <a:t>.</a:t>
            </a:r>
          </a:p>
          <a:p>
            <a:pPr marL="342900" indent="-342900" fontAlgn="base">
              <a:buFont typeface="Wingdings" panose="05000000000000000000" pitchFamily="2" charset="2"/>
              <a:buChar char="ü"/>
            </a:pPr>
            <a:r>
              <a:rPr lang="en-GB" dirty="0"/>
              <a:t>The goal is to explore how AI can navigate games with </a:t>
            </a:r>
            <a:r>
              <a:rPr lang="en-GB" b="1" dirty="0"/>
              <a:t>incomplete information</a:t>
            </a:r>
            <a:r>
              <a:rPr lang="en-GB" dirty="0"/>
              <a:t> and </a:t>
            </a:r>
            <a:r>
              <a:rPr lang="en-GB" b="1" dirty="0"/>
              <a:t>stochastic events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A9A1E50-B5E1-94D1-0153-09D5E0497F4F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BE8F-F38B-0225-A177-9A3696E0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5AA4A6-A059-4A67-AF42-B093B9C8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55" y="603503"/>
            <a:ext cx="4805997" cy="1417873"/>
          </a:xfrm>
        </p:spPr>
        <p:txBody>
          <a:bodyPr/>
          <a:lstStyle/>
          <a:p>
            <a:r>
              <a:rPr lang="en-GB" dirty="0"/>
              <a:t>Game logic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E3E91-BEA4-F5C5-E82D-494A36213A09}"/>
              </a:ext>
            </a:extLst>
          </p:cNvPr>
          <p:cNvSpPr txBox="1"/>
          <p:nvPr/>
        </p:nvSpPr>
        <p:spPr>
          <a:xfrm>
            <a:off x="889254" y="2600004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Hand Evaluator: Game's Core</a:t>
            </a:r>
          </a:p>
          <a:p>
            <a:endParaRPr lang="en-GB" b="1" dirty="0"/>
          </a:p>
          <a:p>
            <a:r>
              <a:rPr lang="en-GB" dirty="0"/>
              <a:t>Purpose: Algorithm to find the best 5-card poker hand from 7 cards.</a:t>
            </a:r>
          </a:p>
          <a:p>
            <a:endParaRPr lang="en-GB" dirty="0"/>
          </a:p>
          <a:p>
            <a:r>
              <a:rPr lang="en-GB" dirty="0"/>
              <a:t>Method: Checks all 21 possible 5-card combinations against poker's hand rankings.</a:t>
            </a:r>
          </a:p>
          <a:p>
            <a:endParaRPr lang="en-GB" dirty="0"/>
          </a:p>
          <a:p>
            <a:r>
              <a:rPr lang="en-GB" dirty="0"/>
              <a:t>Output: Winning hand rank and tie-breaker values.</a:t>
            </a:r>
          </a:p>
          <a:p>
            <a:endParaRPr lang="en-GB" dirty="0"/>
          </a:p>
          <a:p>
            <a:r>
              <a:rPr lang="en-GB" dirty="0"/>
              <a:t>Why it Matters: The definitive rule-set for determining every winner. Essential for AI decision-making.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79A9-8038-CF9C-B480-C8D9352B6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988" y="1673352"/>
            <a:ext cx="4805997" cy="202996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FBCB903-2D21-A033-2C12-0DD0D9743CDC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354419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Expectiminimax Algorithm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noProof="1"/>
              <a:t>Problem: </a:t>
            </a:r>
            <a:r>
              <a:rPr lang="en-GB" b="1" noProof="1"/>
              <a:t>Minimax</a:t>
            </a:r>
            <a:r>
              <a:rPr lang="en-GB" noProof="1"/>
              <a:t> cannot handle the randomness in poker.</a:t>
            </a:r>
          </a:p>
          <a:p>
            <a:r>
              <a:rPr lang="en-GB" noProof="1"/>
              <a:t>Solution: Use the Expectiminimax algorithm, an </a:t>
            </a:r>
            <a:r>
              <a:rPr lang="en-GB" b="1" noProof="1"/>
              <a:t>extension</a:t>
            </a:r>
            <a:r>
              <a:rPr lang="en-GB" noProof="1"/>
              <a:t> of Minimax.</a:t>
            </a:r>
          </a:p>
          <a:p>
            <a:pPr marL="0" indent="0">
              <a:buNone/>
            </a:pPr>
            <a:r>
              <a:rPr lang="en-GB" noProof="1"/>
              <a:t>    </a:t>
            </a:r>
            <a:r>
              <a:rPr lang="en-GB" b="1" noProof="1"/>
              <a:t>Minimax Overview:</a:t>
            </a:r>
          </a:p>
          <a:p>
            <a:r>
              <a:rPr lang="en-GB" noProof="1"/>
              <a:t>Builds a decision tree assuming the opponent always plays perfectly. </a:t>
            </a:r>
          </a:p>
          <a:p>
            <a:r>
              <a:rPr lang="en-GB" noProof="1"/>
              <a:t>Chooses moves to minimize the worst-case loss.</a:t>
            </a:r>
          </a:p>
          <a:p>
            <a:r>
              <a:rPr lang="en-GB" noProof="1"/>
              <a:t>Great for games with perfect information like chess.</a:t>
            </a:r>
          </a:p>
          <a:p>
            <a:pPr marL="0" indent="0">
              <a:buNone/>
            </a:pPr>
            <a:r>
              <a:rPr lang="en-GB" noProof="1"/>
              <a:t>    </a:t>
            </a:r>
            <a:r>
              <a:rPr lang="en-GB" b="1" noProof="1"/>
              <a:t>Why Poker is Different:</a:t>
            </a:r>
          </a:p>
          <a:p>
            <a:r>
              <a:rPr lang="en-GB" noProof="1"/>
              <a:t>Cards are random → outcomes aren’t fully predictable.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1"/>
              <a:t>Expectiminimax Advantage: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1"/>
              <a:t>Adds Chance Nodes to the decision tree.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1"/>
              <a:t>Minimax Nodes: Player turns → pick moves maximizing expected gain.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noProof="1"/>
              <a:t>Chance Nodes: Random events → compute weighted average of all possibilities.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1"/>
              <a:t>Example: Flop has 1,755 possible 3-card combinations → calculate expected value for each → average them.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noProof="1"/>
              <a:t>Impact: The AI can make smart decisions even under uncertainty, perfect for poker strategy.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4439356-D148-6A86-674C-00FA4300C8C8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Expectiminimax Works in Our Simulator</a:t>
            </a:r>
            <a:endParaRPr lang="en-US" dirty="0"/>
          </a:p>
        </p:txBody>
      </p: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82B6F81-83C7-DE4C-9452-12FB7C126B3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87550" y="1903922"/>
            <a:ext cx="4615545" cy="221027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6A1D3A-9A87-AC89-DA2B-8D8339ACB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907" y="1943032"/>
            <a:ext cx="5010089" cy="22102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7F9F5E7-16B2-6242-C77F-77FDAADDA7AD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DC44-E789-A762-2F39-E0FE2E9A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B802-8954-CCE1-3D7E-44CB917A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2D9D-6757-597E-8191-C61575FF8D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7488937" cy="374718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b="0" dirty="0"/>
              <a:t>The simulator was developed in Python.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0" dirty="0"/>
              <a:t>Our poker application has two main parts: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0" dirty="0"/>
              <a:t>The Game World (game_logic.py): The rules, the cards.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0" dirty="0"/>
              <a:t>The AI Mind (expectiminimax.py): The strategy maker.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0" dirty="0"/>
              <a:t>A recursive function implements the Expectiminimax search.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0" dirty="0"/>
              <a:t>The user interface is text-based.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BEEEF-7693-0327-0EE9-980177D96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47722-5EFE-A685-B511-B16AFED2E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512369"/>
            <a:ext cx="3871587" cy="18332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98E66C-16D2-8425-622B-B0636AAFB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627" y="5057193"/>
            <a:ext cx="4888815" cy="106142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CF6C931F-28DF-2E9B-9D59-B43744CE3F96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1279983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and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Our AI consistently outperformed a simpler, rule-based opponent.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We achieved over a 20% higher win rate in testing.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The AI demonstrated advanced, strategic moves like a calculated bluff, which the algorithm determined was the most probable path to victory.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This validates Expectiminimax as a powerful algorithm for poker AI.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5C1BBB-8603-C9C9-CFE0-B3B0FAE8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113" y="2022250"/>
            <a:ext cx="4661619" cy="3200114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66C4071-FF0A-5973-0D82-60145410B4C9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581651" cy="39149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noProof="1"/>
              <a:t>Implement Alpha-Beta Pruning to improve efficiency.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noProof="1"/>
              <a:t>Integrate Opponent Modeling to predict player styles.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noProof="1"/>
              <a:t>Explore Reinforcement Learning to enable the AI to learn from experience.</a:t>
            </a:r>
            <a:endParaRPr lang="en-US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4F2FA5-9ADD-7022-8D80-B9DB3D7FCCF3}"/>
              </a:ext>
            </a:extLst>
          </p:cNvPr>
          <p:cNvSpPr txBox="1">
            <a:spLocks/>
          </p:cNvSpPr>
          <p:nvPr/>
        </p:nvSpPr>
        <p:spPr>
          <a:xfrm>
            <a:off x="8129016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dirty="0"/>
              <a:t>We successfully applied a sophisticated algorithm to a difficult, real-world problem.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dirty="0"/>
              <a:t>Our project demonstrates that an AI can make excellent strategic decisions under uncertainty.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dirty="0"/>
              <a:t>This is a strong example of combining classic AI search with probabilistic thinking.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6E95480-95AF-E29C-DC81-D9FFBE9825AE}"/>
              </a:ext>
            </a:extLst>
          </p:cNvPr>
          <p:cNvSpPr txBox="1">
            <a:spLocks/>
          </p:cNvSpPr>
          <p:nvPr/>
        </p:nvSpPr>
        <p:spPr>
          <a:xfrm>
            <a:off x="88788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cs typeface="Times New Roman" panose="02020603050405020304" pitchFamily="18" charset="0"/>
              </a:rPr>
              <a:t>Zucky</a:t>
            </a:r>
            <a:r>
              <a:rPr lang="en-GB" sz="1500" dirty="0"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cs typeface="Times New Roman" panose="02020603050405020304" pitchFamily="18" charset="0"/>
              </a:rPr>
              <a:t>Taibur</a:t>
            </a:r>
            <a:r>
              <a:rPr lang="en-GB" sz="1500" dirty="0"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CAE0E09-5B67-BD59-BE6F-A45D284BC42E}"/>
              </a:ext>
            </a:extLst>
          </p:cNvPr>
          <p:cNvSpPr txBox="1">
            <a:spLocks/>
          </p:cNvSpPr>
          <p:nvPr/>
        </p:nvSpPr>
        <p:spPr>
          <a:xfrm>
            <a:off x="10250424" y="5550408"/>
            <a:ext cx="2944368" cy="130759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500" b="1" dirty="0">
                <a:solidFill>
                  <a:schemeClr val="bg1"/>
                </a:solidFill>
                <a:cs typeface="Times New Roman" panose="02020603050405020304" pitchFamily="18" charset="0"/>
              </a:rPr>
              <a:t>Group – 7</a:t>
            </a:r>
          </a:p>
          <a:p>
            <a:pPr marL="0" indent="0">
              <a:buNone/>
            </a:pPr>
            <a:r>
              <a:rPr lang="en-GB" sz="1500" b="1" dirty="0">
                <a:solidFill>
                  <a:schemeClr val="bg1"/>
                </a:solidFill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Md Simanto Haider 2021211042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Md Tajul Islam 2031210642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Sheikh </a:t>
            </a:r>
            <a:r>
              <a:rPr lang="en-GB" sz="15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Mushrure</a:t>
            </a: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GB" sz="1500" dirty="0" err="1">
                <a:solidFill>
                  <a:schemeClr val="bg1"/>
                </a:solidFill>
                <a:cs typeface="Times New Roman" panose="02020603050405020304" pitchFamily="18" charset="0"/>
              </a:rPr>
              <a:t>Zucky</a:t>
            </a: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 1821178642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Md </a:t>
            </a:r>
            <a:r>
              <a:rPr lang="en-GB" sz="1500" dirty="0" err="1">
                <a:solidFill>
                  <a:schemeClr val="bg1"/>
                </a:solidFill>
                <a:cs typeface="Times New Roman" panose="02020603050405020304" pitchFamily="18" charset="0"/>
              </a:rPr>
              <a:t>Taibur</a:t>
            </a:r>
            <a:r>
              <a:rPr lang="en-GB" sz="1500" dirty="0">
                <a:solidFill>
                  <a:schemeClr val="bg1"/>
                </a:solidFill>
                <a:cs typeface="Times New Roman" panose="02020603050405020304" pitchFamily="18" charset="0"/>
              </a:rPr>
              <a:t> Rahaman 1931424642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1340</TotalTime>
  <Words>706</Words>
  <Application>Microsoft Office PowerPoint</Application>
  <PresentationFormat>Widescreen</PresentationFormat>
  <Paragraphs>128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Tenorite</vt:lpstr>
      <vt:lpstr>Times New Roman</vt:lpstr>
      <vt:lpstr>Wingdings</vt:lpstr>
      <vt:lpstr>Custom</vt:lpstr>
      <vt:lpstr>Develop a Poker Game Simulator with Expectiminimax</vt:lpstr>
      <vt:lpstr>Introduction</vt:lpstr>
      <vt:lpstr>Game logic</vt:lpstr>
      <vt:lpstr>The Expectiminimax Algorithm </vt:lpstr>
      <vt:lpstr>How Expectiminimax Works in Our Simulator</vt:lpstr>
      <vt:lpstr>Implementation Details</vt:lpstr>
      <vt:lpstr>Results and Analysis</vt:lpstr>
      <vt:lpstr>Future Work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Simanto Haider</dc:creator>
  <cp:lastModifiedBy>Shimanto Haider</cp:lastModifiedBy>
  <cp:revision>20</cp:revision>
  <dcterms:created xsi:type="dcterms:W3CDTF">2025-08-18T08:14:47Z</dcterms:created>
  <dcterms:modified xsi:type="dcterms:W3CDTF">2025-08-20T01:58:17Z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